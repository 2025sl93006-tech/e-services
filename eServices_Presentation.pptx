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097280"/>
            <a:ext cx="2286000" cy="2286000"/>
          </a:xfrm>
          <a:prstGeom prst="ellipse">
            <a:avLst/>
          </a:prstGeom>
          <a:solidFill>
            <a:srgbClr val="094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029200"/>
            <a:ext cx="2926080" cy="2926080"/>
          </a:xfrm>
          <a:prstGeom prst="ellipse">
            <a:avLst/>
          </a:prstGeom>
          <a:solidFill>
            <a:srgbClr val="125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e-Services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DCAF0"/>
                </a:solidFill>
              </a:rPr>
              <a:t>Professional Home &amp; Business Service Marketplace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41148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Platform: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520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MERN Stack  (MongoDB · Express · React · Node.js)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Architecture: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MVC  ·  REST API  ·  JWT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Database: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343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MongoDB  —  5 collections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Team: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FSAD Course Project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Why e-Services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0352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624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 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6C757D"/>
                </a:solidFill>
              </a:rPr>
              <a:t>✗  Finding reliable home service providers (plumbers, electricians, carpenters) is fragmented and unreliable.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6C757D"/>
                </a:solidFill>
              </a:rPr>
              <a:t>✗  No transparent pricing — customers don't know the cost until the job is done.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6C757D"/>
                </a:solidFill>
              </a:rPr>
              <a:t>✗  No way to verify provider quality before hiring.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6C757D"/>
                </a:solidFill>
              </a:rPr>
              <a:t>✗  Booking is done via phone calls with no digital trail.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6C757D"/>
                </a:solidFill>
              </a:rPr>
              <a:t>✗  No feedback mechanism to hold providers accountable.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57784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624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✔  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47088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1E1E2E"/>
                </a:solidFill>
              </a:rPr>
              <a:t>✔  Centralised marketplace listing verified providers across 8 service categories.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1E1E2E"/>
                </a:solidFill>
              </a:rPr>
              <a:t>✔  Transparent hourly rates and minimum charges shown upfront.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1E1E2E"/>
                </a:solidFill>
              </a:rPr>
              <a:t>✔  Real star ratings (1–5) and written reviews from verified customers.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1E1E2E"/>
                </a:solidFill>
              </a:rPr>
              <a:t>✔  Digital booking with auto-generated order reference and email confirmation.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1E1E2E"/>
                </a:solidFill>
              </a:rPr>
              <a:t>✔  Admin panel to manage providers, categories, and order lifecycle.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What the platform offers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566160" cy="4114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83080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JWT-based register &amp; login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Role-based access (admin / enduser)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Password change &amp; profile 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8016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280160"/>
            <a:ext cx="3566160" cy="411480"/>
          </a:xfrm>
          <a:prstGeom prst="rect">
            <a:avLst/>
          </a:prstGeom>
          <a:solidFill>
            <a:srgbClr val="094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335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Smart Search &amp;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783080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Filter by category, location, cost range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Full-text keyword search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Availability status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566160" cy="4114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335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Service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783080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Live cost preview before confirming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Auto order ref  ES-YYYY-XXXX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Email confirmation via Nodemailer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3566160" cy="4114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80390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⭐  Ratings &amp;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251959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1–5 star interactive rating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One review per user per provider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Auto-updates provider avg rating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3749039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3749039"/>
            <a:ext cx="3566160" cy="4114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380390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🛡️  Admin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251959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CRUD for categories &amp; providers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Paginated order management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Status workflow: pending → confirmed → in-progress → completed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749039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49039"/>
            <a:ext cx="3566160" cy="4114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380390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251959"/>
            <a:ext cx="3337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User: KPI cards + recent orders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Admin: platform-wide stats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1E2E"/>
                </a:solidFill>
              </a:rPr>
              <a:t>▸  Cancel orders with reason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Libraries, frameworks and tools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657600" cy="4114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3794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FD"/>
                </a:solidFill>
              </a:rPr>
              <a:t>React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122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UI library with hooks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32888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5877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FD"/>
                </a:solidFill>
              </a:rPr>
              <a:t>React Router v6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620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Client-side routing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82696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FD"/>
                </a:solidFill>
              </a:rPr>
              <a:t>Bootstrap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611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Responsive styling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32504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0873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FD"/>
                </a:solidFill>
              </a:rPr>
              <a:t>Formik + Yup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Form management &amp;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82312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483717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FD"/>
                </a:solidFill>
              </a:rPr>
              <a:t>Axios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1114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HTTP client with interceptors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32120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558698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FD"/>
                </a:solidFill>
              </a:rPr>
              <a:t>React-Toastify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8613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Toast notifications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1234440"/>
            <a:ext cx="3657600" cy="4114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783080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183794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8754"/>
                </a:solidFill>
              </a:rPr>
              <a:t>Node.js + Express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1122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REST API server  (port 5001)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2532888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5877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8754"/>
                </a:solidFill>
              </a:rPr>
              <a:t>Mongoose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8620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MongoDB ODM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282696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8754"/>
                </a:solidFill>
              </a:rPr>
              <a:t>bcryptjs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611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Password hashing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59" y="4032504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40873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8754"/>
                </a:solidFill>
              </a:rPr>
              <a:t>jsonwebtoken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JWT auth tokens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4782312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83717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8754"/>
                </a:solidFill>
              </a:rPr>
              <a:t>Nodemailer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1114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Order confirmation emails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5532120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558698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8754"/>
                </a:solidFill>
              </a:rPr>
              <a:t>swagger-jsdoc/ui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8613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Auto-generated API docs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1234440"/>
            <a:ext cx="3657600" cy="4114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DATABASE &amp;
DEVOPS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1783080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183794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MongoDB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21122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Primary database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532888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25877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5 Collections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620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User · Category · ServiceProvider · Order · 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3282696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Compound Index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611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{user, provider} on Review — unique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4032504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40873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Text Index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name + description + location on Provider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782312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483717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Soft Deletes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51114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isActive / isVisible flags throughout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5532120"/>
            <a:ext cx="3657600" cy="658368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66760" y="558698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Seed Script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58613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npm run seed — 3 users, 8 cats, 16 providers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MVC pattern — Request → Route → Controller → Model →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2011680"/>
            <a:ext cx="20116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2011680"/>
            <a:ext cx="2011680" cy="5029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665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CLIENT
(React 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606040"/>
            <a:ext cx="17922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HomePage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ServicesPage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ServiceDetailPage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OrderServicePage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UserDashboard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MyOrdersPage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AdminDashboard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Manage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011680"/>
            <a:ext cx="21945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94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2011680"/>
            <a:ext cx="2194560" cy="502920"/>
          </a:xfrm>
          <a:prstGeom prst="rect">
            <a:avLst/>
          </a:prstGeom>
          <a:solidFill>
            <a:srgbClr val="094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066544"/>
            <a:ext cx="2011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API LAYER
(Axios)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606040"/>
            <a:ext cx="19751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axiosInstance.js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Auto-attach JWT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401 → logout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authApi.js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categoryApi.js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serviceApi.js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orderApi.js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reviewApi.js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011680"/>
            <a:ext cx="21945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2011680"/>
            <a:ext cx="2194560" cy="5029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79" y="2066544"/>
            <a:ext cx="2011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EXPRESS SERVER
(MVC)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2606040"/>
            <a:ext cx="19751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Routes (5 files)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Controllers (5)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authMiddleware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requireAdmin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emailService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swagger-ui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errorHandler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port 5001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011680"/>
            <a:ext cx="32461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2011680"/>
            <a:ext cx="3246120" cy="5029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19" y="2066544"/>
            <a:ext cx="30632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MONGODB
(5 Collections)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7" y="2606040"/>
            <a:ext cx="3026663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User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Category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ServiceProvider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Order  (orderRef ES-YYYY-XXXX)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Review  (compound idx)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averageRating denorm.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Soft deletes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Text indexes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703320"/>
            <a:ext cx="5943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35661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3703320"/>
            <a:ext cx="5943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05272" y="35661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703320"/>
            <a:ext cx="5943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35661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MongoDB collections and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21945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2194560" cy="3657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719072"/>
            <a:ext cx="1975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name, email, password (bcrypt)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role: admin | enduser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phone, address, isActive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comparePassword()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280160"/>
            <a:ext cx="21945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280160"/>
            <a:ext cx="2194560" cy="3657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32588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719072"/>
            <a:ext cx="1975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name (unique, required)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description, imageUrl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isActive (soft delete)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280160"/>
            <a:ext cx="21945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1280160"/>
            <a:ext cx="2194560" cy="3657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32588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ServiceProvider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1719072"/>
            <a:ext cx="1975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name, category (ref), location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chargePerHour, minCharge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availability: available|busy|unavailable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averageRating, totalReviews (denorm.)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Text index on name+desc+location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03320"/>
            <a:ext cx="539496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03320"/>
            <a:ext cx="5394960" cy="3657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74903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142231"/>
            <a:ext cx="5175504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orderRef: ES-YYYY-XXXX (pre-save hook)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user, provider, category (refs)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serviceDate, serviceAddress, estimatedHours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estimatedCost = max(rate×hrs, minCharge)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orderStatus: pending→confirmed→in-progress→completed|cancelled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emailSent, cancellationReason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703320"/>
            <a:ext cx="598932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3703320"/>
            <a:ext cx="5989320" cy="3657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749039"/>
            <a:ext cx="5806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142231"/>
            <a:ext cx="5769864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user, provider, order (refs)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rating 1–5, comment, isVisible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Compound unique index {user, provider}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recomputeRating() static method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1E2E"/>
                </a:solidFill>
              </a:rPr>
              <a:t>• Aggregates avg → updates ServiceProvider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REST API — 27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Documented via Swagger UI at  http://localhost:5001/api-docs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2240280" cy="38404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28930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/auth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45920"/>
            <a:ext cx="2240280" cy="4846320"/>
          </a:xfrm>
          <a:prstGeom prst="rect">
            <a:avLst/>
          </a:prstGeom>
          <a:solidFill>
            <a:srgbClr val="1E1E2E"/>
          </a:solidFill>
          <a:ln w="127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73736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198754"/>
                </a:solidFill>
              </a:rPr>
              <a:t>POST  </a:t>
            </a:r>
            <a:r>
              <a:rPr sz="1100">
                <a:solidFill>
                  <a:srgbClr val="CCCCDD"/>
                </a:solidFill>
              </a:rPr>
              <a:t>/register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198754"/>
                </a:solidFill>
              </a:rPr>
              <a:t>POST  </a:t>
            </a:r>
            <a:r>
              <a:rPr sz="1100">
                <a:solidFill>
                  <a:srgbClr val="CCCCDD"/>
                </a:solidFill>
              </a:rPr>
              <a:t>/login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/me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D7E14"/>
                </a:solidFill>
              </a:rPr>
              <a:t>PUT  </a:t>
            </a:r>
            <a:r>
              <a:rPr sz="1100">
                <a:solidFill>
                  <a:srgbClr val="CCCCDD"/>
                </a:solidFill>
              </a:rPr>
              <a:t> /me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D7E14"/>
                </a:solidFill>
              </a:rPr>
              <a:t>PUT  </a:t>
            </a:r>
            <a:r>
              <a:rPr sz="1100">
                <a:solidFill>
                  <a:srgbClr val="CCCCDD"/>
                </a:solidFill>
              </a:rPr>
              <a:t> /change-password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261872"/>
            <a:ext cx="224028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28930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/categories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1645920"/>
            <a:ext cx="2240280" cy="4846320"/>
          </a:xfrm>
          <a:prstGeom prst="rect">
            <a:avLst/>
          </a:prstGeom>
          <a:solidFill>
            <a:srgbClr val="1E1E2E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4056" y="173736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  (public)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/:id  (public)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198754"/>
                </a:solidFill>
              </a:rPr>
              <a:t>POST  </a:t>
            </a:r>
            <a:r>
              <a:rPr sz="1100">
                <a:solidFill>
                  <a:srgbClr val="CCCCDD"/>
                </a:solidFill>
              </a:rPr>
              <a:t>/  (admin)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D7E14"/>
                </a:solidFill>
              </a:rPr>
              <a:t>PUT  </a:t>
            </a:r>
            <a:r>
              <a:rPr sz="1100">
                <a:solidFill>
                  <a:srgbClr val="CCCCDD"/>
                </a:solidFill>
              </a:rPr>
              <a:t> /:id  (admin)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198754"/>
                </a:solidFill>
              </a:rPr>
              <a:t>DELETE /:id  </a:t>
            </a:r>
            <a:r>
              <a:rPr sz="1100">
                <a:solidFill>
                  <a:srgbClr val="CCCCDD"/>
                </a:solidFill>
              </a:rPr>
              <a:t>(admin)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261872"/>
            <a:ext cx="224028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8" y="128930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/providers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6" y="1645920"/>
            <a:ext cx="2240280" cy="4846320"/>
          </a:xfrm>
          <a:prstGeom prst="rect">
            <a:avLst/>
          </a:prstGeom>
          <a:solidFill>
            <a:srgbClr val="1E1E2E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173736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  + filters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/category/:id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/:id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198754"/>
                </a:solidFill>
              </a:rPr>
              <a:t>POST  </a:t>
            </a:r>
            <a:r>
              <a:rPr sz="1100">
                <a:solidFill>
                  <a:srgbClr val="CCCCDD"/>
                </a:solidFill>
              </a:rPr>
              <a:t>/  (admin)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D7E14"/>
                </a:solidFill>
              </a:rPr>
              <a:t>PUT  </a:t>
            </a:r>
            <a:r>
              <a:rPr sz="1100">
                <a:solidFill>
                  <a:srgbClr val="CCCCDD"/>
                </a:solidFill>
              </a:rPr>
              <a:t> /:id  (admin)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D7E14"/>
                </a:solidFill>
              </a:rPr>
              <a:t>DELETE /:id  </a:t>
            </a:r>
            <a:r>
              <a:rPr sz="1100">
                <a:solidFill>
                  <a:srgbClr val="CCCCDD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7415783" y="1261872"/>
            <a:ext cx="2240280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936" y="128930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/orders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15783" y="1645920"/>
            <a:ext cx="2240280" cy="4846320"/>
          </a:xfrm>
          <a:prstGeom prst="rect">
            <a:avLst/>
          </a:prstGeom>
          <a:solidFill>
            <a:srgbClr val="1E1E2E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1" y="173736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198754"/>
                </a:solidFill>
              </a:rPr>
              <a:t>POST  </a:t>
            </a:r>
            <a:r>
              <a:rPr sz="1100">
                <a:solidFill>
                  <a:srgbClr val="CCCCDD"/>
                </a:solidFill>
              </a:rPr>
              <a:t>/  (create)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  (admin paged)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/my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/:id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D7E14"/>
                </a:solidFill>
              </a:rPr>
              <a:t>PUT  </a:t>
            </a:r>
            <a:r>
              <a:rPr sz="1100">
                <a:solidFill>
                  <a:srgbClr val="CCCCDD"/>
                </a:solidFill>
              </a:rPr>
              <a:t> /:id/cancel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D7E14"/>
                </a:solidFill>
              </a:rPr>
              <a:t>PUT  </a:t>
            </a:r>
            <a:r>
              <a:rPr sz="1100">
                <a:solidFill>
                  <a:srgbClr val="CCCCDD"/>
                </a:solidFill>
              </a:rPr>
              <a:t> /:id/status (admin)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11512" y="1261872"/>
            <a:ext cx="224028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84664" y="128930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/reviews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11512" y="1645920"/>
            <a:ext cx="2240280" cy="4846320"/>
          </a:xfrm>
          <a:prstGeom prst="rect">
            <a:avLst/>
          </a:prstGeom>
          <a:solidFill>
            <a:srgbClr val="1E1E2E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737360"/>
            <a:ext cx="2057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198754"/>
                </a:solidFill>
              </a:rPr>
              <a:t>POST  </a:t>
            </a:r>
            <a:r>
              <a:rPr sz="1100">
                <a:solidFill>
                  <a:srgbClr val="CCCCDD"/>
                </a:solidFill>
              </a:rPr>
              <a:t>/  (create)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  (admin)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/my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6EFD"/>
                </a:solidFill>
              </a:rPr>
              <a:t>GET  </a:t>
            </a:r>
            <a:r>
              <a:rPr sz="1100">
                <a:solidFill>
                  <a:srgbClr val="CCCCDD"/>
                </a:solidFill>
              </a:rPr>
              <a:t> /provider/:id (public)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D7E14"/>
                </a:solidFill>
              </a:rPr>
              <a:t>PUT  </a:t>
            </a:r>
            <a:r>
              <a:rPr sz="1100">
                <a:solidFill>
                  <a:srgbClr val="CCCCDD"/>
                </a:solidFill>
              </a:rPr>
              <a:t> /:id  (owner)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DC3545"/>
                </a:solidFill>
              </a:rPr>
              <a:t>DELETE /:id  </a:t>
            </a:r>
            <a:r>
              <a:rPr sz="1100">
                <a:solidFill>
                  <a:srgbClr val="CCCCDD"/>
                </a:solidFill>
              </a:rPr>
              <a:t>(admin)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End-to-end journey for a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61872"/>
            <a:ext cx="566928" cy="566928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280160"/>
            <a:ext cx="512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499616"/>
            <a:ext cx="749808" cy="7315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417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18288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11680"/>
            <a:ext cx="1828800" cy="38404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048256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Register /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487168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Fill name, email, password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JWT token issued on success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Role = enduser</a:t>
            </a:r>
          </a:p>
        </p:txBody>
      </p:sp>
      <p:sp>
        <p:nvSpPr>
          <p:cNvPr id="15" name="Oval 14"/>
          <p:cNvSpPr/>
          <p:nvPr/>
        </p:nvSpPr>
        <p:spPr>
          <a:xfrm>
            <a:off x="2880359" y="1261872"/>
            <a:ext cx="566928" cy="566928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1" y="1280160"/>
            <a:ext cx="512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499616"/>
            <a:ext cx="749808" cy="7315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417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79" y="2011680"/>
            <a:ext cx="18288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0279" y="2011680"/>
            <a:ext cx="182880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3432" y="2048256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Browse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2487168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View homepage categories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Filter by location / cost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See star ratings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0" y="1261872"/>
            <a:ext cx="566928" cy="566928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1280160"/>
            <a:ext cx="512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79" y="1499616"/>
            <a:ext cx="749808" cy="7315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1417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011680"/>
            <a:ext cx="18288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2011680"/>
            <a:ext cx="182880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2048256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View Provider 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487168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See provider profile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Read customer reviews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Check availability &amp; pricing</a:t>
            </a:r>
          </a:p>
        </p:txBody>
      </p:sp>
      <p:sp>
        <p:nvSpPr>
          <p:cNvPr id="31" name="Oval 30"/>
          <p:cNvSpPr/>
          <p:nvPr/>
        </p:nvSpPr>
        <p:spPr>
          <a:xfrm>
            <a:off x="6812279" y="1261872"/>
            <a:ext cx="566928" cy="566928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1" y="1280160"/>
            <a:ext cx="512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1499616"/>
            <a:ext cx="749808" cy="7315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1417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199" y="2011680"/>
            <a:ext cx="18288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199" y="2011680"/>
            <a:ext cx="1828800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1" y="2048256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Place 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7" y="2487168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Select date, address, hours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Live cost preview shown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Email confirmation sent</a:t>
            </a:r>
          </a:p>
        </p:txBody>
      </p:sp>
      <p:sp>
        <p:nvSpPr>
          <p:cNvPr id="39" name="Oval 38"/>
          <p:cNvSpPr/>
          <p:nvPr/>
        </p:nvSpPr>
        <p:spPr>
          <a:xfrm>
            <a:off x="8778240" y="1261872"/>
            <a:ext cx="566928" cy="566928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1280160"/>
            <a:ext cx="512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1499616"/>
            <a:ext cx="749808" cy="7315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0" y="1417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2011680"/>
            <a:ext cx="18288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2011680"/>
            <a:ext cx="182880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2" y="2048256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Track Order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487168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View order in My Orders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Cancel if still pending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Status updated by admin</a:t>
            </a:r>
          </a:p>
        </p:txBody>
      </p:sp>
      <p:sp>
        <p:nvSpPr>
          <p:cNvPr id="47" name="Oval 46"/>
          <p:cNvSpPr/>
          <p:nvPr/>
        </p:nvSpPr>
        <p:spPr>
          <a:xfrm>
            <a:off x="10744200" y="1261872"/>
            <a:ext cx="566928" cy="566928"/>
          </a:xfrm>
          <a:prstGeom prst="ellipse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71632" y="1280160"/>
            <a:ext cx="512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04120" y="2011680"/>
            <a:ext cx="18288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C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04120" y="2011680"/>
            <a:ext cx="1828800" cy="384048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77272" y="2048256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Leave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13848" y="2487168"/>
            <a:ext cx="1645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Available after completed order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1–5 star rating + comment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1E2E"/>
                </a:solidFill>
              </a:rPr>
              <a:t>▸  Provider avg rating updates 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Platform management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48640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486400" cy="38404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35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Admin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0D6EFD"/>
                </a:solidFill>
              </a:rPr>
              <a:t>▸  Manage Categories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E1E2E"/>
                </a:solidFill>
              </a:rPr>
              <a:t>   Create, edit, deactivate service categories (Civil, Electrical, etc.)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0D6EFD"/>
                </a:solidFill>
              </a:rPr>
              <a:t>▸  Manage Providers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E1E2E"/>
                </a:solidFill>
              </a:rPr>
              <a:t>   Add/edit/deactivate providers with full detail — category, rates, location, availability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0D6EFD"/>
                </a:solidFill>
              </a:rPr>
              <a:t>▸  Manage Orders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E1E2E"/>
                </a:solidFill>
              </a:rPr>
              <a:t>   View all orders paginated, filter by status, advance order through status workflow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0D6EFD"/>
                </a:solidFill>
              </a:rPr>
              <a:t>▸  Moderate Reviews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E1E2E"/>
                </a:solidFill>
              </a:rPr>
              <a:t>   View all reviews (including hidden), soft-delete inappropriate content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0D6EFD"/>
                </a:solidFill>
              </a:rPr>
              <a:t>▸  Platform Dashboard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E1E2E"/>
                </a:solidFill>
              </a:rPr>
              <a:t>   KPI cards: total orders, pending orders, provider count, category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98448"/>
            <a:ext cx="55778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98448"/>
            <a:ext cx="557784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35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E1E2E"/>
                </a:solidFill>
              </a:rPr>
              <a:t>▸  JWT payload carries role — no DB lookup per request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E1E2E"/>
                </a:solidFill>
              </a:rPr>
              <a:t>▸  verifyToken middleware validates Bearer token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E1E2E"/>
                </a:solidFill>
              </a:rPr>
              <a:t>▸  requireAdmin middleware checks role === 'admin'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1E1E2E"/>
                </a:solidFill>
              </a:rPr>
              <a:t>▸  AdminRoute component blocks non-admins in React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58768"/>
            <a:ext cx="557784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858768"/>
            <a:ext cx="557784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9534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Order Status Workflow  (Admin driven)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407408"/>
            <a:ext cx="914400" cy="29260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442569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4407408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4407408"/>
            <a:ext cx="914400" cy="292608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5" y="442569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7" y="4407408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59" y="4407408"/>
            <a:ext cx="914400" cy="29260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1935" y="442569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in-progress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7" y="4407408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39" y="4407408"/>
            <a:ext cx="914400" cy="29260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5" y="442569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5327" y="4407408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19" y="4407408"/>
            <a:ext cx="914400" cy="2926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5" y="442569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cancelled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646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User can cancel while status is  pending  or  confirmed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937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Admin advances status using  PUT /orders/:id/status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Technical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Design decisions that make the system robust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98448"/>
            <a:ext cx="3657600" cy="2423160"/>
          </a:xfrm>
          <a:prstGeom prst="rect">
            <a:avLst/>
          </a:prstGeom>
          <a:solidFill>
            <a:srgbClr val="1E1E2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98448"/>
            <a:ext cx="3657600" cy="40233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JWT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0136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Token signed with HS256 + JWT_SECRET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Payload: { id, role } — minimal, no PII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Expiry configurable via JWT_EXPIRE (.env)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Auto-logout on 401 via Axios interceptor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98448"/>
            <a:ext cx="3657600" cy="2423160"/>
          </a:xfrm>
          <a:prstGeom prst="rect">
            <a:avLst/>
          </a:prstGeom>
          <a:solidFill>
            <a:srgbClr val="1E1E2E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98448"/>
            <a:ext cx="3657600" cy="40233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3533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🛡️  Password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0136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bcryptjs with salt rounds = 10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Passwords never returned in API responses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.select('-password') on all user queries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Change-password requires current password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298448"/>
            <a:ext cx="3657600" cy="2423160"/>
          </a:xfrm>
          <a:prstGeom prst="rect">
            <a:avLst/>
          </a:prstGeom>
          <a:solidFill>
            <a:srgbClr val="1E1E2E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298448"/>
            <a:ext cx="3657600" cy="402336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3533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Rating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0136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Compound unique index prevents duplicate reviews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recomputeRating() aggregation on every change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averageRating stored denormalized on provider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Rounded to 1 decimal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04487"/>
            <a:ext cx="3657600" cy="2423160"/>
          </a:xfrm>
          <a:prstGeom prst="rect">
            <a:avLst/>
          </a:prstGeom>
          <a:solidFill>
            <a:srgbClr val="1E1E2E"/>
          </a:solidFill>
          <a:ln w="25400">
            <a:solidFill>
              <a:srgbClr val="0DC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904487"/>
            <a:ext cx="3657600" cy="402336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959351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📧  Non-blocking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07407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sendOrderConfirmation() called with .then().catch()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Email failure never fails the order response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emailSent flag tracked on Order document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HTML table template with order details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04487"/>
            <a:ext cx="3657600" cy="2423160"/>
          </a:xfrm>
          <a:prstGeom prst="rect">
            <a:avLst/>
          </a:prstGeom>
          <a:solidFill>
            <a:srgbClr val="1E1E2E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904487"/>
            <a:ext cx="3657600" cy="402336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3959351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🗄️  Data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407407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Soft deletes everywhere (isActive/isVisible)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Mongoose validators + runValidators: true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Server-side cost calculation — client not trusted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Order ref generated in pre-save hook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904487"/>
            <a:ext cx="3657600" cy="2423160"/>
          </a:xfrm>
          <a:prstGeom prst="rect">
            <a:avLst/>
          </a:prstGeom>
          <a:solidFill>
            <a:srgbClr val="1E1E2E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904487"/>
            <a:ext cx="3657600" cy="40233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3959351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 API 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07407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swagger-jsdoc reads @swagger JSDoc in routes/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swagger-ui-express serves at /api-docs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All schemas defined in swagger.js components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CCDD"/>
                </a:solidFill>
              </a:rPr>
              <a:t>▸  persistAuthorization: true in Swagger config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Directory layout of the full-stack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39496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394960" cy="38404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3502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server/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server.js                   </a:t>
            </a:r>
            <a:r>
              <a:rPr sz="1000">
                <a:solidFill>
                  <a:srgbClr val="6C757D"/>
                </a:solidFill>
              </a:rPr>
              <a:t>Entry point — mounts routes + Swagger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swagger.js                  </a:t>
            </a:r>
            <a:r>
              <a:rPr sz="1000">
                <a:solidFill>
                  <a:srgbClr val="6C757D"/>
                </a:solidFill>
              </a:rPr>
              <a:t>OpenAPI 3.0 spec definition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seedData.js                 </a:t>
            </a:r>
            <a:r>
              <a:rPr sz="1000">
                <a:solidFill>
                  <a:srgbClr val="6C757D"/>
                </a:solidFill>
              </a:rPr>
              <a:t>DB seeder script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config/                     </a:t>
            </a:r>
            <a:r>
              <a:rPr sz="1000">
                <a:solidFill>
                  <a:srgbClr val="6C757D"/>
                </a:solidFill>
              </a:rPr>
              <a:t>db.js, nodemailer.js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middleware/                 </a:t>
            </a:r>
            <a:r>
              <a:rPr sz="1000">
                <a:solidFill>
                  <a:srgbClr val="6C757D"/>
                </a:solidFill>
              </a:rPr>
              <a:t>authMiddleware.js, errorHandler.js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models/                     </a:t>
            </a:r>
            <a:r>
              <a:rPr sz="1000">
                <a:solidFill>
                  <a:srgbClr val="6C757D"/>
                </a:solidFill>
              </a:rPr>
              <a:t>User · Category · ServiceProvider · Order · Review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controllers/                </a:t>
            </a:r>
            <a:r>
              <a:rPr sz="1000">
                <a:solidFill>
                  <a:srgbClr val="6C757D"/>
                </a:solidFill>
              </a:rPr>
              <a:t>auth · category · provider · order · review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routes/                     </a:t>
            </a:r>
            <a:r>
              <a:rPr sz="1000">
                <a:solidFill>
                  <a:srgbClr val="6C757D"/>
                </a:solidFill>
              </a:rPr>
              <a:t>5 route files with @swagger JSDoc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services/                   </a:t>
            </a:r>
            <a:r>
              <a:rPr sz="1000">
                <a:solidFill>
                  <a:srgbClr val="6C757D"/>
                </a:solidFill>
              </a:rPr>
              <a:t>emailService.js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6EFD"/>
                </a:solidFill>
              </a:rPr>
              <a:t>  utils/                      </a:t>
            </a:r>
            <a:r>
              <a:rPr sz="1000">
                <a:solidFill>
                  <a:srgbClr val="6C757D"/>
                </a:solidFill>
              </a:rPr>
              <a:t>generateToken.js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98448"/>
            <a:ext cx="557784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98448"/>
            <a:ext cx="557784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35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client/src/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198754"/>
                </a:solidFill>
              </a:rPr>
              <a:t>  App.jsx                   </a:t>
            </a:r>
            <a:r>
              <a:rPr sz="1000">
                <a:solidFill>
                  <a:srgbClr val="6C757D"/>
                </a:solidFill>
              </a:rPr>
              <a:t>Router + AuthProvider + ToastContainer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98754"/>
                </a:solidFill>
              </a:rPr>
              <a:t>  index.js                  </a:t>
            </a:r>
            <a:r>
              <a:rPr sz="1000">
                <a:solidFill>
                  <a:srgbClr val="6C757D"/>
                </a:solidFill>
              </a:rPr>
              <a:t>ReactDOM.createRoot entry point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98754"/>
                </a:solidFill>
              </a:rPr>
              <a:t>  index.css                 </a:t>
            </a:r>
            <a:r>
              <a:rPr sz="1000">
                <a:solidFill>
                  <a:srgbClr val="6C757D"/>
                </a:solidFill>
              </a:rPr>
              <a:t>Global styles + star/card CSS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98754"/>
                </a:solidFill>
              </a:rPr>
              <a:t>  api/                      </a:t>
            </a:r>
            <a:r>
              <a:rPr sz="1000">
                <a:solidFill>
                  <a:srgbClr val="6C757D"/>
                </a:solidFill>
              </a:rPr>
              <a:t>axiosInstance · authApi · categoryApi · serviceApi · orderApi · reviewApi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98754"/>
                </a:solidFill>
              </a:rPr>
              <a:t>  context/AuthContext       </a:t>
            </a:r>
            <a:r>
              <a:rPr sz="1000">
                <a:solidFill>
                  <a:srgbClr val="6C757D"/>
                </a:solidFill>
              </a:rPr>
              <a:t>user, token, login(), logout(), isAdmin()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98754"/>
                </a:solidFill>
              </a:rPr>
              <a:t>  components/common/        </a:t>
            </a:r>
            <a:r>
              <a:rPr sz="1000">
                <a:solidFill>
                  <a:srgbClr val="6C757D"/>
                </a:solidFill>
              </a:rPr>
              <a:t>PrivateRoute · AdminRoute · StarRating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98754"/>
                </a:solidFill>
              </a:rPr>
              <a:t>  components/layout/        </a:t>
            </a:r>
            <a:r>
              <a:rPr sz="1000">
                <a:solidFill>
                  <a:srgbClr val="6C757D"/>
                </a:solidFill>
              </a:rPr>
              <a:t>Navbar · Footer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98754"/>
                </a:solidFill>
              </a:rPr>
              <a:t>  pages/ (13 pages)         </a:t>
            </a:r>
            <a:r>
              <a:rPr sz="1000">
                <a:solidFill>
                  <a:srgbClr val="6C757D"/>
                </a:solidFill>
              </a:rPr>
              <a:t>Home · Services · Detail · Login · Register · UserDashboard · OrderService · MyOrders · AdminDashboard · ManageCategories · ManageProviders · ManageOrders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Requirements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All functional requirements satisfied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11612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658368" cy="694944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146303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3533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EFD"/>
                </a:solidFill>
              </a:rPr>
              <a:t>User Registration &amp;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45919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User model with bcrypt · JWT auth · register/login pages · AuthContext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1463039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8754"/>
                </a:solidFill>
              </a:rPr>
              <a:t>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66543"/>
            <a:ext cx="11612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66543"/>
            <a:ext cx="658368" cy="69494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223113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1214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8754"/>
                </a:solidFill>
              </a:rPr>
              <a:t>Filter by Category / Cost /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414015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providerController.getAll with multi-filter: category, location (regex), minCost/maxCost, availability, $text search · ServicesPage filter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223113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8754"/>
                </a:solidFill>
              </a:rPr>
              <a:t>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34639"/>
            <a:ext cx="11612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834639"/>
            <a:ext cx="658368" cy="69494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88950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Two User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182111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User.role enum (admin | enduser) · requireAdmin middleware · AdminRoute component · role-based navbar dropdowns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299923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8754"/>
                </a:solidFill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02736"/>
            <a:ext cx="11612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602736"/>
            <a:ext cx="658368" cy="69494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37673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657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F42C1"/>
                </a:solidFill>
              </a:rPr>
              <a:t>Admin Manage Providers &amp; 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95020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Full CRUD on /providers and /categories · ManageProvidersPage · ManageCategoriesPage · Formik + Yup modals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376732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8754"/>
                </a:solidFill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370831"/>
            <a:ext cx="11612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370831"/>
            <a:ext cx="658368" cy="694944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" y="4535423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442569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CAF0"/>
                </a:solidFill>
              </a:rPr>
              <a:t>Search + Order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718303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$text index on ServiceProvider · ServicesPage search box · OrderServicePage · order ref generation · email confirmation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4535423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8754"/>
                </a:solidFill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138928"/>
            <a:ext cx="11612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138928"/>
            <a:ext cx="658368" cy="69494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" y="5303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1937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Customer Feedback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54864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Review model · reviewController · ServiceDetailPage review form · MyOrdersPage inline review modal · isVisible soft delete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0" y="530352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8754"/>
                </a:solidFill>
              </a:rPr>
              <a:t>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907024"/>
            <a:ext cx="11612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5907024"/>
            <a:ext cx="658368" cy="69494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" y="607161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" y="59618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Star Ratings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625449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Review.rating (1–5) · StarRating.jsx component (display + interactive) · recomputeRating() static method · averageRating on provider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12880" y="607161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8754"/>
                </a:solidFill>
              </a:rPr>
              <a:t>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 &amp; 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</a:rPr>
              <a:t>Setup instructions and test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486400" cy="5120640"/>
          </a:xfrm>
          <a:prstGeom prst="rect">
            <a:avLst/>
          </a:prstGeom>
          <a:solidFill>
            <a:srgbClr val="1E1E2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486400" cy="38404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35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  Setup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i="1">
                <a:solidFill>
                  <a:srgbClr val="6C757D"/>
                </a:solidFill>
              </a:rPr>
              <a:t># 1. Start MongoDB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mongod</a:t>
            </a:r>
          </a:p>
          <a:p>
            <a:pPr>
              <a:spcBef>
                <a:spcPts val="300"/>
              </a:spcBef>
            </a:pPr>
            <a:r>
              <a:rPr sz="600"/>
              <a:t> 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6C757D"/>
                </a:solidFill>
              </a:rPr>
              <a:t># 2. Start Server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cd e-services/server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npm install</a:t>
            </a:r>
            <a:r>
              <a:rPr sz="1000" i="1">
                <a:solidFill>
                  <a:srgbClr val="6C757D"/>
                </a:solidFill>
              </a:rPr>
              <a:t>   # installs dependencies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npm run seed</a:t>
            </a:r>
            <a:r>
              <a:rPr sz="1000" i="1">
                <a:solidFill>
                  <a:srgbClr val="6C757D"/>
                </a:solidFill>
              </a:rPr>
              <a:t>   # wipes DB + loads test data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npm run dev</a:t>
            </a:r>
            <a:r>
              <a:rPr sz="1000" i="1">
                <a:solidFill>
                  <a:srgbClr val="6C757D"/>
                </a:solidFill>
              </a:rPr>
              <a:t>   # starts API on  :5001</a:t>
            </a:r>
          </a:p>
          <a:p>
            <a:pPr>
              <a:spcBef>
                <a:spcPts val="300"/>
              </a:spcBef>
            </a:pPr>
            <a:r>
              <a:rPr sz="600"/>
              <a:t> 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6C757D"/>
                </a:solidFill>
              </a:rPr>
              <a:t># 3. Start Client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cd e-services/client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npm install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npm start</a:t>
            </a:r>
            <a:r>
              <a:rPr sz="1000" i="1">
                <a:solidFill>
                  <a:srgbClr val="6C757D"/>
                </a:solidFill>
              </a:rPr>
              <a:t>   # starts React on  :3001</a:t>
            </a:r>
          </a:p>
          <a:p>
            <a:pPr>
              <a:spcBef>
                <a:spcPts val="300"/>
              </a:spcBef>
            </a:pPr>
            <a:r>
              <a:rPr sz="600"/>
              <a:t> 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6C757D"/>
                </a:solidFill>
              </a:rPr>
              <a:t># 4. API Documentation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DCAF0"/>
                </a:solidFill>
              </a:rPr>
              <a:t>http://localhost:5001/api-docs</a:t>
            </a:r>
            <a:r>
              <a:rPr sz="1000" i="1">
                <a:solidFill>
                  <a:srgbClr val="6C757D"/>
                </a:solidFill>
              </a:rPr>
              <a:t>   # Swagger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98448"/>
            <a:ext cx="5577840" cy="2468880"/>
          </a:xfrm>
          <a:prstGeom prst="rect">
            <a:avLst/>
          </a:prstGeom>
          <a:solidFill>
            <a:srgbClr val="1E1E2E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98448"/>
            <a:ext cx="557784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35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🔑  Test Accounts  (after npm run seed)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83664"/>
            <a:ext cx="914400" cy="47548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75104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admin@eservices.com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39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admin123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42032"/>
            <a:ext cx="914400" cy="47548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33472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7860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rahul@example.com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9806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user123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00400"/>
            <a:ext cx="914400" cy="475488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291840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23697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priya@example.com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456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user123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31920"/>
            <a:ext cx="5577840" cy="2487168"/>
          </a:xfrm>
          <a:prstGeom prst="rect">
            <a:avLst/>
          </a:prstGeom>
          <a:solidFill>
            <a:srgbClr val="1E1E2E"/>
          </a:solidFill>
          <a:ln w="25400">
            <a:solidFill>
              <a:srgbClr val="0DC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31920"/>
            <a:ext cx="5577840" cy="384048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6849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🌐  Application URLs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62272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 b="1">
                <a:solidFill>
                  <a:srgbClr val="0D6EFD"/>
                </a:solidFill>
              </a:rPr>
              <a:t>React App       </a:t>
            </a:r>
            <a:r>
              <a:rPr sz="1100">
                <a:solidFill>
                  <a:srgbClr val="FFFFFF"/>
                </a:solidFill>
              </a:rPr>
              <a:t>http://localhost:3001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198754"/>
                </a:solidFill>
              </a:rPr>
              <a:t>API Server      </a:t>
            </a:r>
            <a:r>
              <a:rPr sz="1100">
                <a:solidFill>
                  <a:srgbClr val="FFFFFF"/>
                </a:solidFill>
              </a:rPr>
              <a:t>http://localhost:5001/api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FD7E14"/>
                </a:solidFill>
              </a:rPr>
              <a:t>Swagger Docs    </a:t>
            </a:r>
            <a:r>
              <a:rPr sz="1100">
                <a:solidFill>
                  <a:srgbClr val="FFFFFF"/>
                </a:solidFill>
              </a:rPr>
              <a:t>http://localhost:5001/api-docs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6C757D"/>
                </a:solidFill>
              </a:rPr>
              <a:t>Health Check    </a:t>
            </a:r>
            <a:r>
              <a:rPr sz="1100">
                <a:solidFill>
                  <a:srgbClr val="FFFFFF"/>
                </a:solidFill>
              </a:rPr>
              <a:t>http://localhost:5001/api/health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DC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094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0A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DCAF0"/>
                </a:solidFill>
              </a:rPr>
              <a:t>e-Services — Professional Home &amp; Business Service Marketplace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4114800" cy="54864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Stack: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520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MERN  (MongoDB · Express · React 18 · Node.js)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593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API: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9593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27 REST endpoints  ·  Swagger UI at /api-docs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982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Collections: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39826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 MongoDB models with compound index &amp; text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371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Pages: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83717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13 React pages  ·  2 roles  ·  JWT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760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AF0"/>
                </a:solidFill>
              </a:rPr>
              <a:t>Patterns: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2760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MVC  ·  Soft deletes  ·  Denormalised ratings  ·  Non-blocking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6EFD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